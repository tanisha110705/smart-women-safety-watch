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8288000" cy="10287000"/>
  <p:notesSz cx="6858000" cy="9144000"/>
  <p:embeddedFontLst>
    <p:embeddedFont>
      <p:font typeface="Bahnschrift Light SemiCondensed" panose="020B0502040204020203" pitchFamily="34" charset="0"/>
      <p:regular r:id="rId11"/>
    </p:embeddedFont>
    <p:embeddedFont>
      <p:font typeface="Britannic Bold" panose="020B0903060703020204" pitchFamily="34" charset="0"/>
      <p:regular r:id="rId12"/>
    </p:embeddedFont>
    <p:embeddedFont>
      <p:font typeface="Gotham" panose="020B0604020202020204" charset="0"/>
      <p:regular r:id="rId13"/>
    </p:embeddedFont>
    <p:embeddedFont>
      <p:font typeface="Times New Roman MT Condensed" panose="020B0604020202020204" charset="0"/>
      <p:regular r:id="rId14"/>
    </p:embeddedFont>
    <p:embeddedFont>
      <p:font typeface="Times New Roman MT Condensed Italic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C14"/>
    <a:srgbClr val="324020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73E73B-ECCC-46F1-8F47-73E080B50A97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30DD80-344C-4982-8841-06BDE2C3C9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659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0DD80-344C-4982-8841-06BDE2C3C9E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315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0DD80-344C-4982-8841-06BDE2C3C9E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393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10200" y="-2640826"/>
            <a:ext cx="19285436" cy="15042640"/>
          </a:xfrm>
          <a:custGeom>
            <a:avLst/>
            <a:gdLst/>
            <a:ahLst/>
            <a:cxnLst/>
            <a:rect l="l" t="t" r="r" b="b"/>
            <a:pathLst>
              <a:path w="19285436" h="15042640">
                <a:moveTo>
                  <a:pt x="0" y="0"/>
                </a:moveTo>
                <a:lnTo>
                  <a:pt x="19285437" y="0"/>
                </a:lnTo>
                <a:lnTo>
                  <a:pt x="19285437" y="15042640"/>
                </a:lnTo>
                <a:lnTo>
                  <a:pt x="0" y="15042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838200" y="1430672"/>
            <a:ext cx="10191239" cy="1987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522"/>
              </a:lnSpc>
            </a:pPr>
            <a:r>
              <a:rPr lang="en-IN" sz="15000" dirty="0">
                <a:solidFill>
                  <a:srgbClr val="234C14"/>
                </a:solidFill>
                <a:latin typeface="Britannic Bold" panose="020B0903060703020204" pitchFamily="34" charset="0"/>
              </a:rPr>
              <a:t>AuraShield</a:t>
            </a:r>
            <a:endParaRPr lang="en-US" sz="15000" spc="-737" dirty="0">
              <a:solidFill>
                <a:srgbClr val="234C14"/>
              </a:solidFill>
              <a:latin typeface="Britannic Bold" panose="020B0903060703020204" pitchFamily="34" charset="0"/>
              <a:ea typeface="Times New Roman MT Condensed"/>
              <a:cs typeface="Times New Roman MT Condensed"/>
              <a:sym typeface="Times New Roman MT Condense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38200" y="3695700"/>
            <a:ext cx="5814185" cy="501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60"/>
              </a:lnSpc>
            </a:pPr>
            <a:r>
              <a:rPr lang="en-IN" sz="6600" dirty="0" err="1">
                <a:latin typeface="Bahnschrift Light SemiCondensed" panose="020B0502040204020203" pitchFamily="34" charset="0"/>
              </a:rPr>
              <a:t>FemTech</a:t>
            </a:r>
            <a:r>
              <a:rPr lang="en-IN" sz="6600" dirty="0">
                <a:latin typeface="Bahnschrift Light SemiCondensed" panose="020B0502040204020203" pitchFamily="34" charset="0"/>
              </a:rPr>
              <a:t> Force</a:t>
            </a:r>
            <a:endParaRPr lang="en-US" sz="6600" spc="-42" dirty="0">
              <a:solidFill>
                <a:srgbClr val="0E4714"/>
              </a:solidFill>
              <a:latin typeface="Bahnschrift Light SemiCondensed" panose="020B0502040204020203" pitchFamily="34" charset="0"/>
              <a:ea typeface="Gotham"/>
              <a:cs typeface="Gotham"/>
              <a:sym typeface="Gotham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8572500"/>
            <a:ext cx="11628370" cy="1475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4400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Bhavini Verma</a:t>
            </a:r>
          </a:p>
          <a:p>
            <a:pPr algn="l">
              <a:lnSpc>
                <a:spcPts val="2240"/>
              </a:lnSpc>
            </a:pPr>
            <a:endParaRPr lang="en-US" sz="4400" dirty="0">
              <a:solidFill>
                <a:srgbClr val="0E4714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2240"/>
              </a:lnSpc>
            </a:pPr>
            <a:r>
              <a:rPr lang="en-US" sz="4400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Nitisha Mishra</a:t>
            </a:r>
          </a:p>
          <a:p>
            <a:pPr algn="l">
              <a:lnSpc>
                <a:spcPts val="2240"/>
              </a:lnSpc>
            </a:pPr>
            <a:endParaRPr lang="en-US" sz="4400" dirty="0">
              <a:solidFill>
                <a:srgbClr val="0E4714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2240"/>
              </a:lnSpc>
            </a:pPr>
            <a:r>
              <a:rPr lang="en-US" sz="4400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Tanisha Gupta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29682" y="-545920"/>
            <a:ext cx="28550447" cy="11313545"/>
          </a:xfrm>
          <a:custGeom>
            <a:avLst/>
            <a:gdLst/>
            <a:ahLst/>
            <a:cxnLst/>
            <a:rect l="l" t="t" r="r" b="b"/>
            <a:pathLst>
              <a:path w="28550447" h="11313545">
                <a:moveTo>
                  <a:pt x="0" y="0"/>
                </a:moveTo>
                <a:lnTo>
                  <a:pt x="28550447" y="0"/>
                </a:lnTo>
                <a:lnTo>
                  <a:pt x="28550447" y="11313545"/>
                </a:lnTo>
                <a:lnTo>
                  <a:pt x="0" y="113135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49969" b="-5925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857164" y="324127"/>
            <a:ext cx="13847416" cy="1308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69"/>
              </a:lnSpc>
            </a:pPr>
            <a:r>
              <a:rPr lang="en-US" sz="10884" spc="-272" dirty="0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PROBLEM   STATEMENT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47800" y="1759335"/>
            <a:ext cx="7877184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35"/>
              </a:lnSpc>
            </a:pPr>
            <a:r>
              <a:rPr lang="en-IN" sz="4800" b="1" dirty="0"/>
              <a:t>WOMEN SAFETY</a:t>
            </a:r>
            <a:endParaRPr lang="en-US" sz="4800" spc="-41" dirty="0">
              <a:solidFill>
                <a:srgbClr val="0E4714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ED3A5C-4CC8-F3CB-6574-B8C0C1792D54}"/>
              </a:ext>
            </a:extLst>
          </p:cNvPr>
          <p:cNvSpPr txBox="1"/>
          <p:nvPr/>
        </p:nvSpPr>
        <p:spPr>
          <a:xfrm>
            <a:off x="762000" y="2552700"/>
            <a:ext cx="1519253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Women safety is a major concern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Emergencies happen suddenly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Manual systems may fail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Single-sensor → unreliable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No automatic real-time detection 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204006C5-A03C-8D95-B17E-FCF90F681254}"/>
              </a:ext>
            </a:extLst>
          </p:cNvPr>
          <p:cNvSpPr txBox="1"/>
          <p:nvPr/>
        </p:nvSpPr>
        <p:spPr>
          <a:xfrm>
            <a:off x="1266816" y="5965571"/>
            <a:ext cx="7877184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4800" b="1" dirty="0"/>
              <a:t>NEED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4DBC0F-8C45-CD48-7B1D-DE9B3EF41CC1}"/>
              </a:ext>
            </a:extLst>
          </p:cNvPr>
          <p:cNvSpPr txBox="1"/>
          <p:nvPr/>
        </p:nvSpPr>
        <p:spPr>
          <a:xfrm>
            <a:off x="762000" y="6704235"/>
            <a:ext cx="1519253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Automatic detection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No user action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Instant alert system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14600" y="-25608"/>
            <a:ext cx="28550447" cy="11313545"/>
          </a:xfrm>
          <a:custGeom>
            <a:avLst/>
            <a:gdLst/>
            <a:ahLst/>
            <a:cxnLst/>
            <a:rect l="l" t="t" r="r" b="b"/>
            <a:pathLst>
              <a:path w="28550447" h="11313545">
                <a:moveTo>
                  <a:pt x="0" y="0"/>
                </a:moveTo>
                <a:lnTo>
                  <a:pt x="28550447" y="0"/>
                </a:lnTo>
                <a:lnTo>
                  <a:pt x="28550447" y="11313545"/>
                </a:lnTo>
                <a:lnTo>
                  <a:pt x="0" y="113135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9969" b="-5925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685800" y="495300"/>
            <a:ext cx="13847416" cy="1522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69"/>
              </a:lnSpc>
            </a:pPr>
            <a:r>
              <a:rPr lang="en-US" sz="10884" spc="-272" dirty="0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YOUR SOLUTION: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75675" y="1714500"/>
            <a:ext cx="15066409" cy="84946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/>
              <a:t>Hardware &amp; Sensing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Wearable Form Factor: Continuous, unobtrusive monitoring.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Multi-Sensor Array: Tracks heart rate, stress levels, ambient sound, and physical motion.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Real-Time Processing: Powered by an ESP32 microcontroller for instantaneous data handling.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b="1" dirty="0"/>
              <a:t>Intelligent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"Chip-Inspired" Decision Engine: Combines and analyzes multiple sensor inputs simultaneously.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Rapid State Classification: Instantly categorizes user status as SAFE, ALERT, or DANGER.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High Reliability: Sensor fusion minimizes false positives and ensures fast detection.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b="1" dirty="0"/>
              <a:t>Emergency Action &amp; Tracking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Automated SOS Routing: Device ➔ Connected Smartphone ➔ Emergency Contacts.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Pinpoint Location: Integrated GPS sends real-time Google Maps links.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Live Web Dashboard: Remote monitoring of user status, live sensor data, and location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0097" y="-724603"/>
            <a:ext cx="28550447" cy="11313545"/>
          </a:xfrm>
          <a:custGeom>
            <a:avLst/>
            <a:gdLst/>
            <a:ahLst/>
            <a:cxnLst/>
            <a:rect l="l" t="t" r="r" b="b"/>
            <a:pathLst>
              <a:path w="28550447" h="11313545">
                <a:moveTo>
                  <a:pt x="0" y="0"/>
                </a:moveTo>
                <a:lnTo>
                  <a:pt x="28550447" y="0"/>
                </a:lnTo>
                <a:lnTo>
                  <a:pt x="28550447" y="11313545"/>
                </a:lnTo>
                <a:lnTo>
                  <a:pt x="0" y="113135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9969" b="-5925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914400" y="800100"/>
            <a:ext cx="14536620" cy="1522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69"/>
              </a:lnSpc>
            </a:pPr>
            <a:r>
              <a:rPr lang="en-US" sz="10884" spc="-272" dirty="0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IMPLEMENTATION IN VIT: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46879" y="2336183"/>
            <a:ext cx="12882434" cy="7300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dirty="0"/>
              <a:t>• Useful for </a:t>
            </a:r>
            <a:r>
              <a:rPr lang="en-US" sz="3200" b="1" dirty="0"/>
              <a:t>outings</a:t>
            </a:r>
            <a:r>
              <a:rPr lang="en-US" sz="3200" dirty="0"/>
              <a:t> in Vellore and </a:t>
            </a:r>
            <a:r>
              <a:rPr lang="en-US" sz="3200" b="1" dirty="0"/>
              <a:t>outside campus</a:t>
            </a:r>
            <a:r>
              <a:rPr lang="en-US" sz="3200" dirty="0"/>
              <a:t>.</a:t>
            </a:r>
            <a:br>
              <a:rPr lang="en-US" sz="3200" dirty="0"/>
            </a:br>
            <a:r>
              <a:rPr lang="en-US" sz="3200" dirty="0"/>
              <a:t>• Supports </a:t>
            </a:r>
            <a:r>
              <a:rPr lang="en-US" sz="3200" b="1" dirty="0"/>
              <a:t>inter-college competitions </a:t>
            </a:r>
            <a:r>
              <a:rPr lang="en-US" sz="3200" dirty="0"/>
              <a:t>and travel across states.</a:t>
            </a:r>
            <a:br>
              <a:rPr lang="en-US" sz="3200" dirty="0"/>
            </a:br>
            <a:r>
              <a:rPr lang="en-US" sz="3200" dirty="0"/>
              <a:t>• Works during </a:t>
            </a:r>
            <a:r>
              <a:rPr lang="en-US" sz="3200" b="1" dirty="0"/>
              <a:t>late-night</a:t>
            </a:r>
            <a:r>
              <a:rPr lang="en-US" sz="3200" dirty="0"/>
              <a:t>(</a:t>
            </a:r>
            <a:r>
              <a:rPr lang="en-US" sz="3200" dirty="0" err="1"/>
              <a:t>nightslips</a:t>
            </a:r>
            <a:r>
              <a:rPr lang="en-US" sz="3200" dirty="0"/>
              <a:t>) or </a:t>
            </a:r>
            <a:r>
              <a:rPr lang="en-US" sz="3200" b="1" dirty="0"/>
              <a:t>special permission outings</a:t>
            </a:r>
            <a:r>
              <a:rPr lang="en-US" sz="32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• Provides safety for </a:t>
            </a:r>
            <a:r>
              <a:rPr lang="en-US" sz="3200" b="1" dirty="0"/>
              <a:t>solo travel </a:t>
            </a:r>
            <a:r>
              <a:rPr lang="en-US" sz="3200" dirty="0"/>
              <a:t>or </a:t>
            </a:r>
            <a:r>
              <a:rPr lang="en-US" sz="3200" b="1" dirty="0"/>
              <a:t>less crowded routes.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• Helps during </a:t>
            </a:r>
            <a:r>
              <a:rPr lang="en-US" sz="3200" b="1" dirty="0"/>
              <a:t>late-night travel</a:t>
            </a:r>
            <a:r>
              <a:rPr lang="en-US" sz="3200" dirty="0"/>
              <a:t> (bus/train/cab journeys)</a:t>
            </a:r>
            <a:br>
              <a:rPr lang="en-US" sz="3200" dirty="0"/>
            </a:br>
            <a:r>
              <a:rPr lang="en-US" sz="3200" dirty="0"/>
              <a:t>• Sends </a:t>
            </a:r>
            <a:r>
              <a:rPr lang="en-US" sz="3200" b="1" dirty="0"/>
              <a:t>real-time alert </a:t>
            </a:r>
            <a:r>
              <a:rPr lang="en-US" sz="3200" dirty="0"/>
              <a:t>and location to phone.</a:t>
            </a:r>
            <a:br>
              <a:rPr lang="en-US" sz="3200" dirty="0"/>
            </a:br>
            <a:r>
              <a:rPr lang="en-US" sz="3200" dirty="0"/>
              <a:t>• Alerts can be shared with wardens, chief wardens and parents.</a:t>
            </a:r>
            <a:br>
              <a:rPr lang="en-US" sz="3200" dirty="0"/>
            </a:br>
            <a:r>
              <a:rPr lang="en-US" sz="3200" dirty="0"/>
              <a:t>• Maintains </a:t>
            </a:r>
            <a:r>
              <a:rPr lang="en-US" sz="3200" b="1" dirty="0"/>
              <a:t>continuous safety </a:t>
            </a:r>
            <a:r>
              <a:rPr lang="en-US" sz="3200" dirty="0"/>
              <a:t>monitoring </a:t>
            </a:r>
            <a:r>
              <a:rPr lang="en-US" sz="3200" b="1" dirty="0"/>
              <a:t>beyond campus boundaries</a:t>
            </a:r>
            <a:r>
              <a:rPr lang="en-US" sz="32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3200" dirty="0"/>
              <a:t>• Ensures safety while </a:t>
            </a:r>
            <a:r>
              <a:rPr lang="en-US" sz="3200" b="1" dirty="0"/>
              <a:t>traveling</a:t>
            </a:r>
            <a:r>
              <a:rPr lang="en-US" sz="3200" dirty="0"/>
              <a:t> to home and </a:t>
            </a:r>
            <a:r>
              <a:rPr lang="en-US" sz="3200" b="1" dirty="0"/>
              <a:t>returning </a:t>
            </a:r>
            <a:r>
              <a:rPr lang="en-US" sz="3200" dirty="0"/>
              <a:t>to campus from leave.</a:t>
            </a:r>
          </a:p>
          <a:p>
            <a:pPr>
              <a:lnSpc>
                <a:spcPct val="150000"/>
              </a:lnSpc>
            </a:pPr>
            <a:endParaRPr lang="en-US" sz="3200" spc="-68" dirty="0">
              <a:solidFill>
                <a:srgbClr val="0E4714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0097" y="-724603"/>
            <a:ext cx="28550447" cy="11313545"/>
          </a:xfrm>
          <a:custGeom>
            <a:avLst/>
            <a:gdLst/>
            <a:ahLst/>
            <a:cxnLst/>
            <a:rect l="l" t="t" r="r" b="b"/>
            <a:pathLst>
              <a:path w="28550447" h="11313545">
                <a:moveTo>
                  <a:pt x="0" y="0"/>
                </a:moveTo>
                <a:lnTo>
                  <a:pt x="28550447" y="0"/>
                </a:lnTo>
                <a:lnTo>
                  <a:pt x="28550447" y="11313545"/>
                </a:lnTo>
                <a:lnTo>
                  <a:pt x="0" y="113135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49969" b="-5925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059930" y="723900"/>
            <a:ext cx="14536620" cy="1522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69"/>
              </a:lnSpc>
            </a:pPr>
            <a:r>
              <a:rPr lang="en-US" sz="10884" spc="-272" dirty="0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BUSINESS IDEA: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126707"/>
            <a:ext cx="12882434" cy="989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63"/>
              </a:lnSpc>
            </a:pPr>
            <a:r>
              <a:rPr lang="en-US" sz="4579" spc="-68" dirty="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43077D8D-EACC-60DB-DCF2-DAE892E9B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276691"/>
            <a:ext cx="13016705" cy="7468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Combines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prototype </a:t>
            </a:r>
            <a:r>
              <a:rPr lang="en-US" altLang="en-US" sz="3600" dirty="0">
                <a:latin typeface="Arial" panose="020B0604020202020204" pitchFamily="34" charset="0"/>
              </a:rPr>
              <a:t>and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chip design.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600" dirty="0"/>
              <a:t>• Compact chip-based design for </a:t>
            </a:r>
            <a:r>
              <a:rPr lang="en-US" sz="3600" b="1" dirty="0"/>
              <a:t>low power </a:t>
            </a:r>
            <a:r>
              <a:rPr lang="en-US" sz="3600" dirty="0"/>
              <a:t>and </a:t>
            </a:r>
            <a:r>
              <a:rPr lang="en-US" sz="3600" b="1" dirty="0"/>
              <a:t>daily use.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Chip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size, cost and power consumption.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Enables compact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wearable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forms (band/watch/necklace/</a:t>
            </a:r>
            <a:r>
              <a:rPr kumimoji="0" lang="en-US" altLang="en-US" sz="3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etc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prototype to real product.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Target market: individuals and institutions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(B2C &amp; B2B).</a:t>
            </a:r>
            <a:b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device sales and subscription services.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High potential in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wearable safety market.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2CFEED-9C2C-08ED-8E9E-523D8E2AC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0" y="0"/>
            <a:ext cx="10287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997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212884" y="-88603"/>
            <a:ext cx="6110971" cy="2416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25"/>
              </a:lnSpc>
              <a:spcBef>
                <a:spcPct val="0"/>
              </a:spcBef>
            </a:pPr>
            <a:r>
              <a:rPr lang="en-US" sz="12732" spc="-318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AVATAR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4D97D6-1386-DF51-A738-77BA0F0880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887" t="16649" r="37501" b="19885"/>
          <a:stretch>
            <a:fillRect/>
          </a:stretch>
        </p:blipFill>
        <p:spPr>
          <a:xfrm>
            <a:off x="6328468" y="2416993"/>
            <a:ext cx="5101532" cy="56165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89F145-283F-8B17-45D7-09523B3B15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654"/>
          <a:stretch>
            <a:fillRect/>
          </a:stretch>
        </p:blipFill>
        <p:spPr>
          <a:xfrm>
            <a:off x="11811000" y="2416993"/>
            <a:ext cx="5318181" cy="55085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3F099A-EBD7-1D6C-0859-75EA33C32E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873"/>
          <a:stretch>
            <a:fillRect/>
          </a:stretch>
        </p:blipFill>
        <p:spPr>
          <a:xfrm>
            <a:off x="1295400" y="2437887"/>
            <a:ext cx="4652068" cy="55355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90515" y="-2377820"/>
            <a:ext cx="19285436" cy="15042640"/>
          </a:xfrm>
          <a:custGeom>
            <a:avLst/>
            <a:gdLst/>
            <a:ahLst/>
            <a:cxnLst/>
            <a:rect l="l" t="t" r="r" b="b"/>
            <a:pathLst>
              <a:path w="19285436" h="15042640">
                <a:moveTo>
                  <a:pt x="0" y="0"/>
                </a:moveTo>
                <a:lnTo>
                  <a:pt x="19285437" y="0"/>
                </a:lnTo>
                <a:lnTo>
                  <a:pt x="19285437" y="15042640"/>
                </a:lnTo>
                <a:lnTo>
                  <a:pt x="0" y="150426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819150" y="2700805"/>
            <a:ext cx="16440150" cy="3444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68"/>
              </a:lnSpc>
              <a:spcBef>
                <a:spcPct val="0"/>
              </a:spcBef>
            </a:pPr>
            <a:r>
              <a:rPr lang="en-US" sz="18120" i="1" spc="-906">
                <a:solidFill>
                  <a:srgbClr val="0E4714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383</Words>
  <Application>Microsoft Office PowerPoint</Application>
  <PresentationFormat>Custom</PresentationFormat>
  <Paragraphs>55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Calibri</vt:lpstr>
      <vt:lpstr>Bahnschrift Light SemiCondensed</vt:lpstr>
      <vt:lpstr>Aptos</vt:lpstr>
      <vt:lpstr>Times New Roman MT Condensed</vt:lpstr>
      <vt:lpstr>Britannic Bold</vt:lpstr>
      <vt:lpstr>Times New Roman MT Condensed Italics</vt:lpstr>
      <vt:lpstr>Gotham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Herzion</dc:title>
  <dc:creator>Tanisha Gupta</dc:creator>
  <cp:lastModifiedBy>Tanisha Gupta</cp:lastModifiedBy>
  <cp:revision>4</cp:revision>
  <dcterms:created xsi:type="dcterms:W3CDTF">2006-08-16T00:00:00Z</dcterms:created>
  <dcterms:modified xsi:type="dcterms:W3CDTF">2026-04-04T18:38:42Z</dcterms:modified>
  <dc:identifier>DAHFxcwfUWs</dc:identifier>
</cp:coreProperties>
</file>